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d7ba9a2089464c" /><Relationship Type="http://schemas.openxmlformats.org/officeDocument/2006/relationships/extended-properties" Target="/docProps/app.xml" Id="Rf4f55714210f4d25" /><Relationship Type="http://schemas.openxmlformats.org/officeDocument/2006/relationships/officeDocument" Target="/ppt/presentation.xml" Id="R058b4f82b09e44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f7ab7714174000"/>
  </p:sldMasterIdLst>
  <p:notesMasterIdLst>
    <p:notesMasterId xmlns:r="http://schemas.openxmlformats.org/officeDocument/2006/relationships" r:id="R6302a593033c452e"/>
  </p:notesMasterIdLst>
  <p:sldIdLst>
    <p:sldId xmlns:r="http://schemas.openxmlformats.org/officeDocument/2006/relationships" id="256" r:id="R9e321abfb01047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85fa53c16d405e" /><Relationship Type="http://schemas.openxmlformats.org/officeDocument/2006/relationships/slideMaster" Target="/ppt/slideMasters/slideMaster1.xml" Id="R61f7ab7714174000" /><Relationship Type="http://schemas.openxmlformats.org/officeDocument/2006/relationships/notesMaster" Target="/ppt/notesMasters/notesMaster1.xml" Id="R6302a593033c452e" /><Relationship Type="http://schemas.openxmlformats.org/officeDocument/2006/relationships/presProps" Target="/ppt/presProps.xml" Id="Rfbd01f576d8047d3" /><Relationship Type="http://schemas.openxmlformats.org/officeDocument/2006/relationships/tableStyles" Target="/ppt/tableStyles.xml" Id="R6c34dcf73bba4969" /><Relationship Type="http://schemas.openxmlformats.org/officeDocument/2006/relationships/slide" Target="/ppt/slides/slide1.xml" Id="R9e321abfb01047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a639be39954e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bbf797e16c4696" /><Relationship Type="http://schemas.openxmlformats.org/officeDocument/2006/relationships/notesMaster" Target="/ppt/notesMasters/notesMaster1.xml" Id="R55a9d1a7a31d44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00ea3b35748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73f926b5da45eb" /><Relationship Type="http://schemas.openxmlformats.org/officeDocument/2006/relationships/slideLayout" Target="/ppt/slideLayouts/slideLayout1.xml" Id="R70f58d747e3d48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f58d747e3d48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fddd3ad404825" /><Relationship Type="http://schemas.openxmlformats.org/officeDocument/2006/relationships/chart" Target="/ppt/slides/charts/chart1.xml" Id="Rab5de144898644cf" /><Relationship Type="http://schemas.openxmlformats.org/officeDocument/2006/relationships/notesSlide" Target="/ppt/notesSlides/notesSlide1.xml" Id="R734898c1db004d14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Mean BMIPCT</c:v>
          </c:tx>
          <c:spPr>
            <a:solidFill xmlns:a="http://schemas.openxmlformats.org/drawingml/2006/main">
              <a:srgbClr val="2563EB"/>
            </a:solidFill>
          </c:spPr>
          <c:dPt>
            <c:idx val="0"/>
            <c:spPr>
              <a:solidFill xmlns:a="http://schemas.openxmlformats.org/drawingml/2006/main">
                <a:srgbClr val="93C5FD"/>
              </a:solidFill>
            </c:spPr>
          </c:dPt>
          <c:dPt>
            <c:idx val="1"/>
            <c:spPr>
              <a:solidFill xmlns:a="http://schemas.openxmlformats.org/drawingml/2006/main">
                <a:srgbClr val="86EFAC"/>
              </a:solidFill>
            </c:spPr>
          </c:dPt>
          <c:dPt>
            <c:idx val="2"/>
            <c:spPr>
              <a:solidFill xmlns:a="http://schemas.openxmlformats.org/drawingml/2006/main">
                <a:srgbClr val="FDE68A"/>
              </a:solidFill>
            </c:spPr>
          </c:dPt>
          <c:dPt>
            <c:idx val="3"/>
            <c:spPr>
              <a:solidFill xmlns:a="http://schemas.openxmlformats.org/drawingml/2006/main">
                <a:srgbClr val="FDBA74"/>
              </a:solidFill>
            </c:spPr>
          </c:dPt>
          <c:dPt>
            <c:idx val="4"/>
            <c:spPr>
              <a:solidFill xmlns:a="http://schemas.openxmlformats.org/drawingml/2006/main">
                <a:srgbClr val="FCA5A5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Very underweight</c:v>
              </c:pt>
              <c:pt idx="1">
                <c:v>Slightly underweight</c:v>
              </c:pt>
              <c:pt idx="2">
                <c:v>About the right weight</c:v>
              </c:pt>
              <c:pt idx="3">
                <c:v>Slightly overweight</c:v>
              </c:pt>
              <c:pt idx="4">
                <c:v>Very overweight</c:v>
              </c:pt>
            </c:strLit>
          </c:cat>
          <c:val>
            <c:numLit>
              <c:formatCode>General</c:formatCode>
              <c:ptCount val="5"/>
              <c:pt idx="0">
                <c:v>45.5</c:v>
              </c:pt>
              <c:pt idx="1">
                <c:v>36.53</c:v>
              </c:pt>
              <c:pt idx="2">
                <c:v>59.71</c:v>
              </c:pt>
              <c:pt idx="3">
                <c:v>84.99</c:v>
              </c:pt>
              <c:pt idx="4">
                <c:v>92.3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475569"/>
                    </a:solidFill>
                  </a:rPr>
                  <a:t>Mean BMI percentile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475569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0605B1E5-FB3F-436E-A37A-5D2F1EA7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635CF30-3962-4A7A-B3EE-8D801103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YRBS 2007 STATISTICS PROJECT | ONE-SLIDE SUMMARY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9FB156-2F25-47A6-B135-5C7187F7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Weight Perception and BMI Percentile</a:t>
            </a:r>
          </a:p>
        </p:txBody>
      </p:sp>
      <p:sp>
        <p:nvSpPr>
          <p:cNvPr id="4" name="stat-chip">
            <a:extLst xmlns:a="http://schemas.openxmlformats.org/drawingml/2006/main">
              <a:ext uri="{FF2B5EF4-FFF2-40B4-BE49-F238E27FC236}">
                <a16:creationId xmlns:a16="http://schemas.microsoft.com/office/drawing/2014/main" id="{C6E26996-C451-41BB-8961-98CD9C68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0500"/>
            <a:ext cx="291465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stat-chip-text">
            <a:extLst xmlns:a="http://schemas.openxmlformats.org/drawingml/2006/main">
              <a:ext uri="{FF2B5EF4-FFF2-40B4-BE49-F238E27FC236}">
                <a16:creationId xmlns:a16="http://schemas.microsoft.com/office/drawing/2014/main" id="{11A634E4-154E-4E54-BBA9-FC6C4CCB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5275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 = 12,853  |  F = 1,556.65  |  p &lt; 0.001</a:t>
            </a:r>
          </a:p>
        </p:txBody>
      </p:sp>
      <p:sp>
        <p:nvSpPr>
          <p:cNvPr id="6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877C8718-55AD-4F18-A3CC-0D77029D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34290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question-accent">
            <a:extLst xmlns:a="http://schemas.openxmlformats.org/drawingml/2006/main">
              <a:ext uri="{FF2B5EF4-FFF2-40B4-BE49-F238E27FC236}">
                <a16:creationId xmlns:a16="http://schemas.microsoft.com/office/drawing/2014/main" id="{CEE97756-E1AF-4DBC-B987-582A14EF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762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8AE4884-4B1E-4397-AD90-047047C1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9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1EE474D0-A999-4BD8-9D72-423FB5FA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308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Do students' perceived weight categories reflect their actual BMI percentile?</a:t>
            </a:r>
          </a:p>
        </p:txBody>
      </p:sp>
      <p:sp>
        <p:nvSpPr>
          <p:cNvPr id="10" name="response-surface">
            <a:extLst xmlns:a="http://schemas.openxmlformats.org/drawingml/2006/main">
              <a:ext uri="{FF2B5EF4-FFF2-40B4-BE49-F238E27FC236}">
                <a16:creationId xmlns:a16="http://schemas.microsoft.com/office/drawing/2014/main" id="{89FE789B-D873-4019-BA5E-7EF57C54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09800"/>
            <a:ext cx="3429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sponse-accent">
            <a:extLst xmlns:a="http://schemas.openxmlformats.org/drawingml/2006/main">
              <a:ext uri="{FF2B5EF4-FFF2-40B4-BE49-F238E27FC236}">
                <a16:creationId xmlns:a16="http://schemas.microsoft.com/office/drawing/2014/main" id="{7E0F12C6-C449-48C2-BE1C-682340E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098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response-title">
            <a:extLst xmlns:a="http://schemas.openxmlformats.org/drawingml/2006/main">
              <a:ext uri="{FF2B5EF4-FFF2-40B4-BE49-F238E27FC236}">
                <a16:creationId xmlns:a16="http://schemas.microsoft.com/office/drawing/2014/main" id="{3DBB4D11-A561-4B90-931D-0BAE7305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Response Variable</a:t>
            </a:r>
          </a:p>
        </p:txBody>
      </p:sp>
      <p:sp>
        <p:nvSpPr>
          <p:cNvPr id="13" name="response-body">
            <a:extLst xmlns:a="http://schemas.openxmlformats.org/drawingml/2006/main">
              <a:ext uri="{FF2B5EF4-FFF2-40B4-BE49-F238E27FC236}">
                <a16:creationId xmlns:a16="http://schemas.microsoft.com/office/drawing/2014/main" id="{B1888F6B-A670-4FDB-9623-06AF1E62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BMIPCT = student BMI percentile</a:t>
            </a:r>
          </a:p>
        </p:txBody>
      </p:sp>
      <p:sp>
        <p:nvSpPr>
          <p:cNvPr id="14" name="method-surface">
            <a:extLst xmlns:a="http://schemas.openxmlformats.org/drawingml/2006/main">
              <a:ext uri="{FF2B5EF4-FFF2-40B4-BE49-F238E27FC236}">
                <a16:creationId xmlns:a16="http://schemas.microsoft.com/office/drawing/2014/main" id="{20AFD530-7028-437E-B5D8-89722ACD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62300"/>
            <a:ext cx="3429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method-accent">
            <a:extLst xmlns:a="http://schemas.openxmlformats.org/drawingml/2006/main">
              <a:ext uri="{FF2B5EF4-FFF2-40B4-BE49-F238E27FC236}">
                <a16:creationId xmlns:a16="http://schemas.microsoft.com/office/drawing/2014/main" id="{36E711B1-3B80-4DB1-89B3-7530B4AA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62300"/>
            <a:ext cx="76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" name="method-title">
            <a:extLst xmlns:a="http://schemas.openxmlformats.org/drawingml/2006/main">
              <a:ext uri="{FF2B5EF4-FFF2-40B4-BE49-F238E27FC236}">
                <a16:creationId xmlns:a16="http://schemas.microsoft.com/office/drawing/2014/main" id="{115C485A-A4BA-4DAA-8FBF-DECB8C15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7" name="method-body">
            <a:extLst xmlns:a="http://schemas.openxmlformats.org/drawingml/2006/main">
              <a:ext uri="{FF2B5EF4-FFF2-40B4-BE49-F238E27FC236}">
                <a16:creationId xmlns:a16="http://schemas.microsoft.com/office/drawing/2014/main" id="{4B06C16A-C605-4272-9E8C-21822432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One-way ANOVA; Tukey HSD for post-hoc pairwise comparisons.</a:t>
            </a:r>
          </a:p>
        </p:txBody>
      </p:sp>
      <p:sp>
        <p:nvSpPr>
          <p:cNvPr id="18" name="groups-surface">
            <a:extLst xmlns:a="http://schemas.openxmlformats.org/drawingml/2006/main">
              <a:ext uri="{FF2B5EF4-FFF2-40B4-BE49-F238E27FC236}">
                <a16:creationId xmlns:a16="http://schemas.microsoft.com/office/drawing/2014/main" id="{B3EF31F0-7FA3-4435-A953-3C0871A7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29100"/>
            <a:ext cx="34290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groups-title">
            <a:extLst xmlns:a="http://schemas.openxmlformats.org/drawingml/2006/main">
              <a:ext uri="{FF2B5EF4-FFF2-40B4-BE49-F238E27FC236}">
                <a16:creationId xmlns:a16="http://schemas.microsoft.com/office/drawing/2014/main" id="{70D0298E-C47B-4986-9E93-D1F68843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Group Definition</a:t>
            </a:r>
          </a:p>
        </p:txBody>
      </p:sp>
      <p:sp>
        <p:nvSpPr>
          <p:cNvPr id="20" name="g1-pill">
            <a:extLst xmlns:a="http://schemas.openxmlformats.org/drawingml/2006/main">
              <a:ext uri="{FF2B5EF4-FFF2-40B4-BE49-F238E27FC236}">
                <a16:creationId xmlns:a16="http://schemas.microsoft.com/office/drawing/2014/main" id="{ABBBED15-09C6-41BC-99BA-6201C924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4763">
            <a:solidFill>
              <a:srgbClr val="CBD5E1"/>
            </a:solidFill>
            <a:prstDash val="solid"/>
          </a:ln>
        </p:spPr>
      </p:sp>
      <p:sp>
        <p:nvSpPr>
          <p:cNvPr id="21" name="g1-label">
            <a:extLst xmlns:a="http://schemas.openxmlformats.org/drawingml/2006/main">
              <a:ext uri="{FF2B5EF4-FFF2-40B4-BE49-F238E27FC236}">
                <a16:creationId xmlns:a16="http://schemas.microsoft.com/office/drawing/2014/main" id="{347C59A9-83D8-4329-9942-822E12EA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1 Very under</a:t>
            </a:r>
          </a:p>
        </p:txBody>
      </p:sp>
      <p:sp>
        <p:nvSpPr>
          <p:cNvPr id="22" name="g2-pill">
            <a:extLst xmlns:a="http://schemas.openxmlformats.org/drawingml/2006/main">
              <a:ext uri="{FF2B5EF4-FFF2-40B4-BE49-F238E27FC236}">
                <a16:creationId xmlns:a16="http://schemas.microsoft.com/office/drawing/2014/main" id="{86E3F277-1D6D-407A-B36A-CD122AF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67250"/>
            <a:ext cx="1371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4763">
            <a:solidFill>
              <a:srgbClr val="CBD5E1"/>
            </a:solidFill>
            <a:prstDash val="solid"/>
          </a:ln>
        </p:spPr>
      </p:sp>
      <p:sp>
        <p:nvSpPr>
          <p:cNvPr id="23" name="g2-label">
            <a:extLst xmlns:a="http://schemas.openxmlformats.org/drawingml/2006/main">
              <a:ext uri="{FF2B5EF4-FFF2-40B4-BE49-F238E27FC236}">
                <a16:creationId xmlns:a16="http://schemas.microsoft.com/office/drawing/2014/main" id="{FA4CF1F7-876D-45D4-8636-A09EB477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148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2 Slight under</a:t>
            </a:r>
          </a:p>
        </p:txBody>
      </p:sp>
      <p:sp>
        <p:nvSpPr>
          <p:cNvPr id="24" name="g3-pill">
            <a:extLst xmlns:a="http://schemas.openxmlformats.org/drawingml/2006/main">
              <a:ext uri="{FF2B5EF4-FFF2-40B4-BE49-F238E27FC236}">
                <a16:creationId xmlns:a16="http://schemas.microsoft.com/office/drawing/2014/main" id="{6CB90926-4ACE-4708-A378-28725D86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4763">
            <a:solidFill>
              <a:srgbClr val="CBD5E1"/>
            </a:solidFill>
            <a:prstDash val="solid"/>
          </a:ln>
        </p:spPr>
      </p:sp>
      <p:sp>
        <p:nvSpPr>
          <p:cNvPr id="25" name="g3-label">
            <a:extLst xmlns:a="http://schemas.openxmlformats.org/drawingml/2006/main">
              <a:ext uri="{FF2B5EF4-FFF2-40B4-BE49-F238E27FC236}">
                <a16:creationId xmlns:a16="http://schemas.microsoft.com/office/drawing/2014/main" id="{BDF8D776-ED5B-4779-B2E8-F72F27DD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7682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3 About right</a:t>
            </a:r>
          </a:p>
        </p:txBody>
      </p:sp>
      <p:sp>
        <p:nvSpPr>
          <p:cNvPr id="26" name="g4-pill">
            <a:extLst xmlns:a="http://schemas.openxmlformats.org/drawingml/2006/main">
              <a:ext uri="{FF2B5EF4-FFF2-40B4-BE49-F238E27FC236}">
                <a16:creationId xmlns:a16="http://schemas.microsoft.com/office/drawing/2014/main" id="{B46250F5-722A-447F-AC00-87976C8B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29200"/>
            <a:ext cx="1371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4763">
            <a:solidFill>
              <a:srgbClr val="CBD5E1"/>
            </a:solidFill>
            <a:prstDash val="solid"/>
          </a:ln>
        </p:spPr>
      </p:sp>
      <p:sp>
        <p:nvSpPr>
          <p:cNvPr id="27" name="g4-label">
            <a:extLst xmlns:a="http://schemas.openxmlformats.org/drawingml/2006/main">
              <a:ext uri="{FF2B5EF4-FFF2-40B4-BE49-F238E27FC236}">
                <a16:creationId xmlns:a16="http://schemas.microsoft.com/office/drawing/2014/main" id="{473EF912-9DCB-40AA-B6F1-A0E7DAD1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768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3412"/>
                </a:solidFill>
                <a:latin typeface="Aptos"/>
                <a:ea typeface="Aptos"/>
                <a:cs typeface="Aptos"/>
              </a:rPr>
              <a:t>4 Slight over</a:t>
            </a:r>
          </a:p>
        </p:txBody>
      </p:sp>
      <p:sp>
        <p:nvSpPr>
          <p:cNvPr id="28" name="g5-pill">
            <a:extLst xmlns:a="http://schemas.openxmlformats.org/drawingml/2006/main">
              <a:ext uri="{FF2B5EF4-FFF2-40B4-BE49-F238E27FC236}">
                <a16:creationId xmlns:a16="http://schemas.microsoft.com/office/drawing/2014/main" id="{0F73F6D6-6EAB-458F-BDB3-75476267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911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CACA"/>
          </a:solidFill>
          <a:ln xmlns:a="http://schemas.openxmlformats.org/drawingml/2006/main" w="4763">
            <a:solidFill>
              <a:srgbClr val="CBD5E1"/>
            </a:solidFill>
            <a:prstDash val="solid"/>
          </a:ln>
        </p:spPr>
      </p:sp>
      <p:sp>
        <p:nvSpPr>
          <p:cNvPr id="29" name="g5-label">
            <a:extLst xmlns:a="http://schemas.openxmlformats.org/drawingml/2006/main">
              <a:ext uri="{FF2B5EF4-FFF2-40B4-BE49-F238E27FC236}">
                <a16:creationId xmlns:a16="http://schemas.microsoft.com/office/drawing/2014/main" id="{5ED778C0-3336-407F-9C9B-FA29622D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3877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91B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91B1B"/>
                </a:solidFill>
                <a:latin typeface="Aptos"/>
                <a:ea typeface="Aptos"/>
                <a:cs typeface="Aptos"/>
              </a:rPr>
              <a:t>5 Very overweight</a:t>
            </a:r>
          </a:p>
        </p:txBody>
      </p:sp>
      <p:sp>
        <p:nvSpPr>
          <p:cNvPr id="30" name="chart-surface">
            <a:extLst xmlns:a="http://schemas.openxmlformats.org/drawingml/2006/main">
              <a:ext uri="{FF2B5EF4-FFF2-40B4-BE49-F238E27FC236}">
                <a16:creationId xmlns:a16="http://schemas.microsoft.com/office/drawing/2014/main" id="{832F8587-4422-4A13-9AC2-7C295318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066800"/>
            <a:ext cx="7620000" cy="4267200"/>
          </a:xfrm>
          <a:prstGeom xmlns:a="http://schemas.openxmlformats.org/drawingml/2006/main" prst="roundRect">
            <a:avLst>
              <a:gd name="adj" fmla="val 4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chart-kicker">
            <a:extLst xmlns:a="http://schemas.openxmlformats.org/drawingml/2006/main">
              <a:ext uri="{FF2B5EF4-FFF2-40B4-BE49-F238E27FC236}">
                <a16:creationId xmlns:a16="http://schemas.microsoft.com/office/drawing/2014/main" id="{C357BD6F-2596-409D-9E83-6B1059B6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382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CLEAR FIGURE</a:t>
            </a:r>
          </a:p>
        </p:txBody>
      </p:sp>
      <p:sp>
        <p:nvSpPr>
          <p:cNvPr id="32" name="chart-title">
            <a:extLst xmlns:a="http://schemas.openxmlformats.org/drawingml/2006/main">
              <a:ext uri="{FF2B5EF4-FFF2-40B4-BE49-F238E27FC236}">
                <a16:creationId xmlns:a16="http://schemas.microsoft.com/office/drawing/2014/main" id="{71C438E0-B41F-46AA-8340-CDF28EF3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Mean BMIPCT by perceived weight group</a:t>
            </a:r>
          </a:p>
        </p:txBody>
      </p:sp>
      <p:sp>
        <p:nvSpPr>
          <p:cNvPr id="33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6E6CDEC7-F899-4E07-A189-99A1C3FD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Bars show group means from the cleaned analysis dataset.</a:t>
            </a:r>
          </a:p>
        </p:txBody>
      </p:sp>
      <p:graphicFrame>
        <p:nvGraphicFramePr>
          <p:cNvPr id="76" name="Chart"/>
          <p:cNvGraphicFramePr/>
          <p:nvPr/>
        </p:nvGraphicFramePr>
        <p:xfrm>
          <a:off xmlns:a="http://schemas.openxmlformats.org/drawingml/2006/main" x="4400550" y="2019300"/>
          <a:ext xmlns:a="http://schemas.openxmlformats.org/drawingml/2006/main" cx="497205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5de144898644cf"/>
          </a:graphicData>
        </a:graphic>
      </p:graphicFrame>
      <p:sp>
        <p:nvSpPr>
          <p:cNvPr id="35" name="result-card">
            <a:extLst xmlns:a="http://schemas.openxmlformats.org/drawingml/2006/main">
              <a:ext uri="{FF2B5EF4-FFF2-40B4-BE49-F238E27FC236}">
                <a16:creationId xmlns:a16="http://schemas.microsoft.com/office/drawing/2014/main" id="{B9558BB2-9A6A-46E0-9486-2D31D2FC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95500"/>
            <a:ext cx="1790700" cy="180975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36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C1FD04EA-E22A-429C-8504-57A89EF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50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Key Result</a:t>
            </a:r>
          </a:p>
        </p:txBody>
      </p:sp>
      <p:sp>
        <p:nvSpPr>
          <p:cNvPr id="37" name="result-main">
            <a:extLst xmlns:a="http://schemas.openxmlformats.org/drawingml/2006/main">
              <a:ext uri="{FF2B5EF4-FFF2-40B4-BE49-F238E27FC236}">
                <a16:creationId xmlns:a16="http://schemas.microsoft.com/office/drawing/2014/main" id="{98E367D9-86F9-47BD-9F64-A5F3C871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479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4E3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64E3B"/>
                </a:solidFill>
                <a:latin typeface="Aptos Display"/>
                <a:ea typeface="Aptos Display"/>
                <a:cs typeface="Aptos Display"/>
              </a:rPr>
              <a:t>Reject H0</a:t>
            </a:r>
          </a:p>
        </p:txBody>
      </p:sp>
      <p:sp>
        <p:nvSpPr>
          <p:cNvPr id="38" name="result-detail">
            <a:extLst xmlns:a="http://schemas.openxmlformats.org/drawingml/2006/main">
              <a:ext uri="{FF2B5EF4-FFF2-40B4-BE49-F238E27FC236}">
                <a16:creationId xmlns:a16="http://schemas.microsoft.com/office/drawing/2014/main" id="{6E1BDCC3-B62B-4C57-82A4-9CD9641B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051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ANOVA p &lt; 0.001</a:t>
            </a:r>
          </a:p>
          <a:p xmlns:a="http://schemas.openxmlformats.org/drawingml/2006/main">
            <a:pPr algn="ctr">
              <a:defRPr sz="1125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10/10 Tukey pairs significant</a:t>
            </a:r>
          </a:p>
        </p:txBody>
      </p:sp>
      <p:sp>
        <p:nvSpPr>
          <p:cNvPr id="39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F7335F6E-D148-49C5-9B93-B2BC6B1F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72150"/>
            <a:ext cx="113157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40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E2E1049C-67F2-45A5-982F-18F9BEA6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340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1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5E4386DF-40BD-4527-B700-6E567C74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905500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Perceived weight category is associated with BMI percentile; association, not causation.</a:t>
            </a:r>
          </a:p>
        </p:txBody>
      </p:sp>
      <p:sp>
        <p:nvSpPr>
          <p:cNvPr id="4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860B30F-90B4-4893-8941-7A4F57C1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172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Source: YRBS_2007.csv; cleaned rows with valid PerceptionOfWeight and BMIPCT.</a:t>
            </a:r>
          </a:p>
        </p:txBody>
      </p:sp>
    </p:spTree>
    <p:extLst>
      <p:ext uri="{BB962C8B-B14F-4D97-AF65-F5344CB8AC3E}">
        <p14:creationId xmlns:p14="http://schemas.microsoft.com/office/powerpoint/2010/main" val="1789635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2026-06-18T13:57:46.4280000Z</dcterms:created>
  <dcterms:modified xsi:type="dcterms:W3CDTF">2026-06-18T13:57:46.4280000Z</dcterms:modified>
</coreProperties>
</file>