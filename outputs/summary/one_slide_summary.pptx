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charts/chart1.xml" ContentType="application/vnd.openxmlformats-officedocument.drawingml.chart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deb9d8a968b4963" /><Relationship Type="http://schemas.openxmlformats.org/officeDocument/2006/relationships/extended-properties" Target="/docProps/app.xml" Id="Re1afc62cc4f04d33" /><Relationship Type="http://schemas.openxmlformats.org/officeDocument/2006/relationships/officeDocument" Target="/ppt/presentation.xml" Id="Rbb325b140e35458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a162093cc8e4c2d"/>
  </p:sldMasterIdLst>
  <p:notesMasterIdLst>
    <p:notesMasterId xmlns:r="http://schemas.openxmlformats.org/officeDocument/2006/relationships" r:id="R3eecfd69fbcb46a5"/>
  </p:notesMasterIdLst>
  <p:sldIdLst>
    <p:sldId xmlns:r="http://schemas.openxmlformats.org/officeDocument/2006/relationships" id="256" r:id="Ra1d34209b32c467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22a62e202db4adf" /><Relationship Type="http://schemas.openxmlformats.org/officeDocument/2006/relationships/slideMaster" Target="/ppt/slideMasters/slideMaster1.xml" Id="Rea162093cc8e4c2d" /><Relationship Type="http://schemas.openxmlformats.org/officeDocument/2006/relationships/notesMaster" Target="/ppt/notesMasters/notesMaster1.xml" Id="R3eecfd69fbcb46a5" /><Relationship Type="http://schemas.openxmlformats.org/officeDocument/2006/relationships/presProps" Target="/ppt/presProps.xml" Id="R9df88c28a1f04dd5" /><Relationship Type="http://schemas.openxmlformats.org/officeDocument/2006/relationships/tableStyles" Target="/ppt/tableStyles.xml" Id="Ra9fb12cf816b4be5" /><Relationship Type="http://schemas.openxmlformats.org/officeDocument/2006/relationships/slide" Target="/ppt/slides/slide1.xml" Id="Ra1d34209b32c467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06a36f3225a436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b99b86fa49f4824" /><Relationship Type="http://schemas.openxmlformats.org/officeDocument/2006/relationships/notesMaster" Target="/ppt/notesMasters/notesMaster1.xml" Id="R0a39c2bd247549d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510a57e74c420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a3241b1ec744b8e" /><Relationship Type="http://schemas.openxmlformats.org/officeDocument/2006/relationships/slideLayout" Target="/ppt/slideLayouts/slideLayout1.xml" Id="Rdf8f9e3cf94e456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f8f9e3cf94e456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b43a72683a43d3" /><Relationship Type="http://schemas.openxmlformats.org/officeDocument/2006/relationships/chart" Target="/ppt/slides/charts/chart1.xml" Id="R83c36fe83e6b4d25" /><Relationship Type="http://schemas.openxmlformats.org/officeDocument/2006/relationships/notesSlide" Target="/ppt/notesSlides/notesSlide1.xml" Id="R61eb9eaac753401e" /></Relationships>
</file>

<file path=ppt/slides/charts/chart1.xml><?xml version="1.0" encoding="utf-8"?>
<c:chartSpace xmlns:c="http://schemas.openxmlformats.org/drawingml/2006/chart">
  <c:lang val="en-US"/>
  <c:roundedCorners val="0"/>
  <c:chart>
    <c:plotArea>
      <c:layout/>
      <c:barChart>
        <c:barDir val="bar"/>
        <c:grouping val="clustered"/>
        <c:varyColors val="0"/>
        <c:ser>
          <c:idx val="0"/>
          <c:order val="0"/>
          <c:tx>
            <c:v>Mean BMIPCT</c:v>
          </c:tx>
          <c:spPr>
            <a:solidFill xmlns:a="http://schemas.openxmlformats.org/drawingml/2006/main">
              <a:srgbClr val="2563EB"/>
            </a:solidFill>
          </c:spPr>
          <c:dPt>
            <c:idx val="0"/>
            <c:spPr>
              <a:solidFill xmlns:a="http://schemas.openxmlformats.org/drawingml/2006/main">
                <a:srgbClr val="93C5FD"/>
              </a:solidFill>
            </c:spPr>
          </c:dPt>
          <c:dPt>
            <c:idx val="1"/>
            <c:spPr>
              <a:solidFill xmlns:a="http://schemas.openxmlformats.org/drawingml/2006/main">
                <a:srgbClr val="86EFAC"/>
              </a:solidFill>
            </c:spPr>
          </c:dPt>
          <c:dPt>
            <c:idx val="2"/>
            <c:spPr>
              <a:solidFill xmlns:a="http://schemas.openxmlformats.org/drawingml/2006/main">
                <a:srgbClr val="FDE68A"/>
              </a:solidFill>
            </c:spPr>
          </c:dPt>
          <c:dPt>
            <c:idx val="3"/>
            <c:spPr>
              <a:solidFill xmlns:a="http://schemas.openxmlformats.org/drawingml/2006/main">
                <a:srgbClr val="FDBA74"/>
              </a:solidFill>
            </c:spPr>
          </c:dPt>
          <c:dPt>
            <c:idx val="4"/>
            <c:spPr>
              <a:solidFill xmlns:a="http://schemas.openxmlformats.org/drawingml/2006/main">
                <a:srgbClr val="FCA5A5"/>
              </a:solidFill>
            </c:spPr>
          </c:dPt>
          <c:dLbls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5"/>
              <c:pt idx="0">
                <c:v>Very underweight</c:v>
              </c:pt>
              <c:pt idx="1">
                <c:v>Slightly underweight</c:v>
              </c:pt>
              <c:pt idx="2">
                <c:v>About the right weight</c:v>
              </c:pt>
              <c:pt idx="3">
                <c:v>Slightly overweight</c:v>
              </c:pt>
              <c:pt idx="4">
                <c:v>Very overweight</c:v>
              </c:pt>
            </c:strLit>
          </c:cat>
          <c:val>
            <c:numLit>
              <c:formatCode>General</c:formatCode>
              <c:ptCount val="5"/>
              <c:pt idx="0">
                <c:v>45.5</c:v>
              </c:pt>
              <c:pt idx="1">
                <c:v>36.53</c:v>
              </c:pt>
              <c:pt idx="2">
                <c:v>59.71</c:v>
              </c:pt>
              <c:pt idx="3">
                <c:v>84.99</c:v>
              </c:pt>
              <c:pt idx="4">
                <c:v>92.3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 b="1">
                  <a:solidFill>
                    <a:srgbClr val="0F172A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2E8F0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900">
                    <a:solidFill>
                      <a:srgbClr val="475569"/>
                    </a:solidFill>
                  </a:rPr>
                  <a:t>Mean BMI percentile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>
                  <a:solidFill>
                    <a:srgbClr val="475569"/>
                  </a:solidFill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BD5E1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475569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BD5E1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334155"/>
                </a:solidFill>
              </a:defRPr>
            </a:pPr>
          </a:p>
        </c:txPr>
        <c:crossAx val="48650112"/>
        <c:crosses val="autoZero"/>
        <c:crossBetween val="between"/>
      </c:valAx>
    </c:plotArea>
    <c:plotVisOnly val="1"/>
  </c:chart>
  <c:spPr>
    <a:solidFill xmlns:a="http://schemas.openxmlformats.org/drawingml/2006/main">
      <a:srgbClr val="FFFFFF"/>
    </a:solidFill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band">
            <a:extLst xmlns:a="http://schemas.openxmlformats.org/drawingml/2006/main">
              <a:ext uri="{FF2B5EF4-FFF2-40B4-BE49-F238E27FC236}">
                <a16:creationId xmlns:a16="http://schemas.microsoft.com/office/drawing/2014/main" id="{0605B1E5-FB3F-436E-A37A-5D2F1EA7F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0">
            <a:solidFill>
              <a:srgbClr val="0F172A"/>
            </a:solidFill>
            <a:prstDash val="solid"/>
          </a:ln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D635CF30-3962-4A7A-B3EE-8D8011037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714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A7F3D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7F3D0"/>
                </a:solidFill>
                <a:latin typeface="Aptos"/>
                <a:ea typeface="Aptos"/>
                <a:cs typeface="Aptos"/>
              </a:rPr>
              <a:t>YRBS 2007 STATISTICS PROJECT | ONE-SLIDE SUMMARY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19FB156-2F25-47A6-B135-5C7187F7F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2385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Weight Perception and BMI Percentile</a:t>
            </a:r>
          </a:p>
        </p:txBody>
      </p:sp>
      <p:sp>
        <p:nvSpPr>
          <p:cNvPr id="4" name="stat-chip">
            <a:extLst xmlns:a="http://schemas.openxmlformats.org/drawingml/2006/main">
              <a:ext uri="{FF2B5EF4-FFF2-40B4-BE49-F238E27FC236}">
                <a16:creationId xmlns:a16="http://schemas.microsoft.com/office/drawing/2014/main" id="{C6E26996-C451-41BB-8961-98CD9C685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190500"/>
            <a:ext cx="2914650" cy="400050"/>
          </a:xfrm>
          <a:prstGeom xmlns:a="http://schemas.openxmlformats.org/drawingml/2006/main" prst="roundRect">
            <a:avLst>
              <a:gd name="adj" fmla="val 4761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stat-chip-text">
            <a:extLst xmlns:a="http://schemas.openxmlformats.org/drawingml/2006/main">
              <a:ext uri="{FF2B5EF4-FFF2-40B4-BE49-F238E27FC236}">
                <a16:creationId xmlns:a16="http://schemas.microsoft.com/office/drawing/2014/main" id="{11A634E4-154E-4E54-BBA9-FC6C4CCBC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95275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n = 12,853  |  F = 1,556.65  |  p &lt; 0.001</a:t>
            </a:r>
          </a:p>
        </p:txBody>
      </p:sp>
      <p:sp>
        <p:nvSpPr>
          <p:cNvPr id="6" name="question-surface">
            <a:extLst xmlns:a="http://schemas.openxmlformats.org/drawingml/2006/main">
              <a:ext uri="{FF2B5EF4-FFF2-40B4-BE49-F238E27FC236}">
                <a16:creationId xmlns:a16="http://schemas.microsoft.com/office/drawing/2014/main" id="{877C8718-55AD-4F18-A3CC-0D77029DA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066800"/>
            <a:ext cx="3429000" cy="971550"/>
          </a:xfrm>
          <a:prstGeom xmlns:a="http://schemas.openxmlformats.org/drawingml/2006/main" prst="roundRect">
            <a:avLst>
              <a:gd name="adj" fmla="val 156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question-accent">
            <a:extLst xmlns:a="http://schemas.openxmlformats.org/drawingml/2006/main">
              <a:ext uri="{FF2B5EF4-FFF2-40B4-BE49-F238E27FC236}">
                <a16:creationId xmlns:a16="http://schemas.microsoft.com/office/drawing/2014/main" id="{CEE97756-E1AF-4DBC-B987-582A14EFD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066800"/>
            <a:ext cx="76200" cy="971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8" name="question-title">
            <a:extLst xmlns:a="http://schemas.openxmlformats.org/drawingml/2006/main">
              <a:ext uri="{FF2B5EF4-FFF2-40B4-BE49-F238E27FC236}">
                <a16:creationId xmlns:a16="http://schemas.microsoft.com/office/drawing/2014/main" id="{88AE4884-4B1E-4397-AD90-047047C13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001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34155"/>
                </a:solidFill>
                <a:latin typeface="Aptos"/>
                <a:ea typeface="Aptos"/>
                <a:cs typeface="Aptos"/>
              </a:rPr>
              <a:t>Research Question</a:t>
            </a:r>
          </a:p>
        </p:txBody>
      </p:sp>
      <p:sp>
        <p:nvSpPr>
          <p:cNvPr id="9" name="question-body">
            <a:extLst xmlns:a="http://schemas.openxmlformats.org/drawingml/2006/main">
              <a:ext uri="{FF2B5EF4-FFF2-40B4-BE49-F238E27FC236}">
                <a16:creationId xmlns:a16="http://schemas.microsoft.com/office/drawing/2014/main" id="{1EE474D0-A999-4BD8-9D72-423FB5FA9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66850"/>
            <a:ext cx="3086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0F172A"/>
                </a:solidFill>
                <a:latin typeface="Aptos"/>
                <a:ea typeface="Aptos"/>
                <a:cs typeface="Aptos"/>
              </a:rPr>
              <a:t>Do students' perceived weight categories reflect their actual BMI percentile?</a:t>
            </a:r>
          </a:p>
        </p:txBody>
      </p:sp>
      <p:sp>
        <p:nvSpPr>
          <p:cNvPr id="10" name="response-surface">
            <a:extLst xmlns:a="http://schemas.openxmlformats.org/drawingml/2006/main">
              <a:ext uri="{FF2B5EF4-FFF2-40B4-BE49-F238E27FC236}">
                <a16:creationId xmlns:a16="http://schemas.microsoft.com/office/drawing/2014/main" id="{89FE789B-D873-4019-BA5E-7EF57C540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209800"/>
            <a:ext cx="3429000" cy="781050"/>
          </a:xfrm>
          <a:prstGeom xmlns:a="http://schemas.openxmlformats.org/drawingml/2006/main" prst="roundRect">
            <a:avLst>
              <a:gd name="adj" fmla="val 1951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response-accent">
            <a:extLst xmlns:a="http://schemas.openxmlformats.org/drawingml/2006/main">
              <a:ext uri="{FF2B5EF4-FFF2-40B4-BE49-F238E27FC236}">
                <a16:creationId xmlns:a16="http://schemas.microsoft.com/office/drawing/2014/main" id="{7E0F12C6-C449-48C2-BE1C-682340EDA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209800"/>
            <a:ext cx="76200" cy="781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2" name="response-title">
            <a:extLst xmlns:a="http://schemas.openxmlformats.org/drawingml/2006/main">
              <a:ext uri="{FF2B5EF4-FFF2-40B4-BE49-F238E27FC236}">
                <a16:creationId xmlns:a16="http://schemas.microsoft.com/office/drawing/2014/main" id="{3DBB4D11-A561-4B90-931D-0BAE7305E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431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34155"/>
                </a:solidFill>
                <a:latin typeface="Aptos"/>
                <a:ea typeface="Aptos"/>
                <a:cs typeface="Aptos"/>
              </a:rPr>
              <a:t>Response Variable</a:t>
            </a:r>
          </a:p>
        </p:txBody>
      </p:sp>
      <p:sp>
        <p:nvSpPr>
          <p:cNvPr id="13" name="response-body">
            <a:extLst xmlns:a="http://schemas.openxmlformats.org/drawingml/2006/main">
              <a:ext uri="{FF2B5EF4-FFF2-40B4-BE49-F238E27FC236}">
                <a16:creationId xmlns:a16="http://schemas.microsoft.com/office/drawing/2014/main" id="{B1888F6B-A670-4FDB-9623-06AF1E625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09850"/>
            <a:ext cx="3086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0F172A"/>
                </a:solidFill>
                <a:latin typeface="Aptos"/>
                <a:ea typeface="Aptos"/>
                <a:cs typeface="Aptos"/>
              </a:rPr>
              <a:t>BMIPCT = student BMI percentile</a:t>
            </a:r>
          </a:p>
        </p:txBody>
      </p:sp>
      <p:sp>
        <p:nvSpPr>
          <p:cNvPr id="14" name="method-surface">
            <a:extLst xmlns:a="http://schemas.openxmlformats.org/drawingml/2006/main">
              <a:ext uri="{FF2B5EF4-FFF2-40B4-BE49-F238E27FC236}">
                <a16:creationId xmlns:a16="http://schemas.microsoft.com/office/drawing/2014/main" id="{20AFD530-7028-437E-B5D8-89722ACDD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162300"/>
            <a:ext cx="3429000" cy="87630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method-accent">
            <a:extLst xmlns:a="http://schemas.openxmlformats.org/drawingml/2006/main">
              <a:ext uri="{FF2B5EF4-FFF2-40B4-BE49-F238E27FC236}">
                <a16:creationId xmlns:a16="http://schemas.microsoft.com/office/drawing/2014/main" id="{36E711B1-3B80-4DB1-89B3-7530B4AAA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162300"/>
            <a:ext cx="76200" cy="876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16" name="method-title">
            <a:extLst xmlns:a="http://schemas.openxmlformats.org/drawingml/2006/main">
              <a:ext uri="{FF2B5EF4-FFF2-40B4-BE49-F238E27FC236}">
                <a16:creationId xmlns:a16="http://schemas.microsoft.com/office/drawing/2014/main" id="{115C485A-A4BA-4DAA-8FBF-DECB8C157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956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34155"/>
                </a:solidFill>
                <a:latin typeface="Aptos"/>
                <a:ea typeface="Aptos"/>
                <a:cs typeface="Aptos"/>
              </a:rPr>
              <a:t>Method</a:t>
            </a:r>
          </a:p>
        </p:txBody>
      </p:sp>
      <p:sp>
        <p:nvSpPr>
          <p:cNvPr id="17" name="method-body">
            <a:extLst xmlns:a="http://schemas.openxmlformats.org/drawingml/2006/main">
              <a:ext uri="{FF2B5EF4-FFF2-40B4-BE49-F238E27FC236}">
                <a16:creationId xmlns:a16="http://schemas.microsoft.com/office/drawing/2014/main" id="{4B06C16A-C605-4272-9E8C-21822432F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62350"/>
            <a:ext cx="3086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0F172A"/>
                </a:solidFill>
                <a:latin typeface="Aptos"/>
                <a:ea typeface="Aptos"/>
                <a:cs typeface="Aptos"/>
              </a:rPr>
              <a:t>One-way ANOVA; Tukey HSD for post-hoc pairwise comparisons.</a:t>
            </a:r>
          </a:p>
        </p:txBody>
      </p:sp>
      <p:sp>
        <p:nvSpPr>
          <p:cNvPr id="18" name="groups-surface">
            <a:extLst xmlns:a="http://schemas.openxmlformats.org/drawingml/2006/main">
              <a:ext uri="{FF2B5EF4-FFF2-40B4-BE49-F238E27FC236}">
                <a16:creationId xmlns:a16="http://schemas.microsoft.com/office/drawing/2014/main" id="{B3EF31F0-7FA3-4435-A953-3C0871A7F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229100"/>
            <a:ext cx="3429000" cy="1390650"/>
          </a:xfrm>
          <a:prstGeom xmlns:a="http://schemas.openxmlformats.org/drawingml/2006/main" prst="roundRect">
            <a:avLst>
              <a:gd name="adj" fmla="val 109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groups-title">
            <a:extLst xmlns:a="http://schemas.openxmlformats.org/drawingml/2006/main">
              <a:ext uri="{FF2B5EF4-FFF2-40B4-BE49-F238E27FC236}">
                <a16:creationId xmlns:a16="http://schemas.microsoft.com/office/drawing/2014/main" id="{70D0298E-C47B-4986-9E93-D1F68843A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62450"/>
            <a:ext cx="3028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34155"/>
                </a:solidFill>
                <a:latin typeface="Aptos"/>
                <a:ea typeface="Aptos"/>
                <a:cs typeface="Aptos"/>
              </a:rPr>
              <a:t>Group Definition</a:t>
            </a:r>
          </a:p>
        </p:txBody>
      </p:sp>
      <p:sp>
        <p:nvSpPr>
          <p:cNvPr id="20" name="g1-pill">
            <a:extLst xmlns:a="http://schemas.openxmlformats.org/drawingml/2006/main">
              <a:ext uri="{FF2B5EF4-FFF2-40B4-BE49-F238E27FC236}">
                <a16:creationId xmlns:a16="http://schemas.microsoft.com/office/drawing/2014/main" id="{ABBBED15-09C6-41BC-99BA-6201C9248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67250"/>
            <a:ext cx="12382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4763">
            <a:solidFill>
              <a:srgbClr val="CBD5E1"/>
            </a:solidFill>
            <a:prstDash val="solid"/>
          </a:ln>
        </p:spPr>
      </p:sp>
      <p:sp>
        <p:nvSpPr>
          <p:cNvPr id="21" name="g1-label">
            <a:extLst xmlns:a="http://schemas.openxmlformats.org/drawingml/2006/main">
              <a:ext uri="{FF2B5EF4-FFF2-40B4-BE49-F238E27FC236}">
                <a16:creationId xmlns:a16="http://schemas.microsoft.com/office/drawing/2014/main" id="{347C59A9-83D8-4329-9942-822E12EA2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14875"/>
            <a:ext cx="1085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E3A8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E3A8A"/>
                </a:solidFill>
                <a:latin typeface="Aptos"/>
                <a:ea typeface="Aptos"/>
                <a:cs typeface="Aptos"/>
              </a:rPr>
              <a:t>1 Very under</a:t>
            </a:r>
          </a:p>
        </p:txBody>
      </p:sp>
      <p:sp>
        <p:nvSpPr>
          <p:cNvPr id="22" name="g2-pill">
            <a:extLst xmlns:a="http://schemas.openxmlformats.org/drawingml/2006/main">
              <a:ext uri="{FF2B5EF4-FFF2-40B4-BE49-F238E27FC236}">
                <a16:creationId xmlns:a16="http://schemas.microsoft.com/office/drawing/2014/main" id="{86E3F277-1D6D-407A-B36A-CD122AFBB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667250"/>
            <a:ext cx="13716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4763">
            <a:solidFill>
              <a:srgbClr val="CBD5E1"/>
            </a:solidFill>
            <a:prstDash val="solid"/>
          </a:ln>
        </p:spPr>
      </p:sp>
      <p:sp>
        <p:nvSpPr>
          <p:cNvPr id="23" name="g2-label">
            <a:extLst xmlns:a="http://schemas.openxmlformats.org/drawingml/2006/main">
              <a:ext uri="{FF2B5EF4-FFF2-40B4-BE49-F238E27FC236}">
                <a16:creationId xmlns:a16="http://schemas.microsoft.com/office/drawing/2014/main" id="{FA4CF1F7-876D-45D4-8636-A09EB477E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71487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065F4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2 Slight under</a:t>
            </a:r>
          </a:p>
        </p:txBody>
      </p:sp>
      <p:sp>
        <p:nvSpPr>
          <p:cNvPr id="24" name="g3-pill">
            <a:extLst xmlns:a="http://schemas.openxmlformats.org/drawingml/2006/main">
              <a:ext uri="{FF2B5EF4-FFF2-40B4-BE49-F238E27FC236}">
                <a16:creationId xmlns:a16="http://schemas.microsoft.com/office/drawing/2014/main" id="{6CB90926-4ACE-4708-A378-28725D860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29200"/>
            <a:ext cx="12382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4763">
            <a:solidFill>
              <a:srgbClr val="CBD5E1"/>
            </a:solidFill>
            <a:prstDash val="solid"/>
          </a:ln>
        </p:spPr>
      </p:sp>
      <p:sp>
        <p:nvSpPr>
          <p:cNvPr id="25" name="g3-label">
            <a:extLst xmlns:a="http://schemas.openxmlformats.org/drawingml/2006/main">
              <a:ext uri="{FF2B5EF4-FFF2-40B4-BE49-F238E27FC236}">
                <a16:creationId xmlns:a16="http://schemas.microsoft.com/office/drawing/2014/main" id="{BDF8D776-ED5B-4779-B2E8-F72F27DD6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076825"/>
            <a:ext cx="1085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92400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92400E"/>
                </a:solidFill>
                <a:latin typeface="Aptos"/>
                <a:ea typeface="Aptos"/>
                <a:cs typeface="Aptos"/>
              </a:rPr>
              <a:t>3 About right</a:t>
            </a:r>
          </a:p>
        </p:txBody>
      </p:sp>
      <p:sp>
        <p:nvSpPr>
          <p:cNvPr id="26" name="g4-pill">
            <a:extLst xmlns:a="http://schemas.openxmlformats.org/drawingml/2006/main">
              <a:ext uri="{FF2B5EF4-FFF2-40B4-BE49-F238E27FC236}">
                <a16:creationId xmlns:a16="http://schemas.microsoft.com/office/drawing/2014/main" id="{B46250F5-722A-447F-AC00-87976C8BA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029200"/>
            <a:ext cx="13716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ED7AA"/>
          </a:solidFill>
          <a:ln xmlns:a="http://schemas.openxmlformats.org/drawingml/2006/main" w="4763">
            <a:solidFill>
              <a:srgbClr val="CBD5E1"/>
            </a:solidFill>
            <a:prstDash val="solid"/>
          </a:ln>
        </p:spPr>
      </p:sp>
      <p:sp>
        <p:nvSpPr>
          <p:cNvPr id="27" name="g4-label">
            <a:extLst xmlns:a="http://schemas.openxmlformats.org/drawingml/2006/main">
              <a:ext uri="{FF2B5EF4-FFF2-40B4-BE49-F238E27FC236}">
                <a16:creationId xmlns:a16="http://schemas.microsoft.com/office/drawing/2014/main" id="{473EF912-9DCB-40AA-B6F1-A0E7DAD1D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50768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9A3412"/>
                </a:solidFill>
                <a:latin typeface="Aptos"/>
                <a:ea typeface="Aptos"/>
                <a:cs typeface="Aptos"/>
              </a:rPr>
              <a:t>4 Slight over</a:t>
            </a:r>
          </a:p>
        </p:txBody>
      </p:sp>
      <p:sp>
        <p:nvSpPr>
          <p:cNvPr id="28" name="g5-pill">
            <a:extLst xmlns:a="http://schemas.openxmlformats.org/drawingml/2006/main">
              <a:ext uri="{FF2B5EF4-FFF2-40B4-BE49-F238E27FC236}">
                <a16:creationId xmlns:a16="http://schemas.microsoft.com/office/drawing/2014/main" id="{0F73F6D6-6EAB-458F-BDB3-754762679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391150"/>
            <a:ext cx="1600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ECACA"/>
          </a:solidFill>
          <a:ln xmlns:a="http://schemas.openxmlformats.org/drawingml/2006/main" w="4763">
            <a:solidFill>
              <a:srgbClr val="CBD5E1"/>
            </a:solidFill>
            <a:prstDash val="solid"/>
          </a:ln>
        </p:spPr>
      </p:sp>
      <p:sp>
        <p:nvSpPr>
          <p:cNvPr id="29" name="g5-label">
            <a:extLst xmlns:a="http://schemas.openxmlformats.org/drawingml/2006/main">
              <a:ext uri="{FF2B5EF4-FFF2-40B4-BE49-F238E27FC236}">
                <a16:creationId xmlns:a16="http://schemas.microsoft.com/office/drawing/2014/main" id="{5ED778C0-3336-407F-9C9B-FA29622D1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438775"/>
            <a:ext cx="144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991B1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991B1B"/>
                </a:solidFill>
                <a:latin typeface="Aptos"/>
                <a:ea typeface="Aptos"/>
                <a:cs typeface="Aptos"/>
              </a:rPr>
              <a:t>5 Very overweight</a:t>
            </a:r>
          </a:p>
        </p:txBody>
      </p:sp>
      <p:sp>
        <p:nvSpPr>
          <p:cNvPr id="30" name="chart-surface">
            <a:extLst xmlns:a="http://schemas.openxmlformats.org/drawingml/2006/main">
              <a:ext uri="{FF2B5EF4-FFF2-40B4-BE49-F238E27FC236}">
                <a16:creationId xmlns:a16="http://schemas.microsoft.com/office/drawing/2014/main" id="{832F8587-4422-4A13-9AC2-7C295318F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066800"/>
            <a:ext cx="7620000" cy="4267200"/>
          </a:xfrm>
          <a:prstGeom xmlns:a="http://schemas.openxmlformats.org/drawingml/2006/main" prst="roundRect">
            <a:avLst>
              <a:gd name="adj" fmla="val 40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1" name="chart-kicker">
            <a:extLst xmlns:a="http://schemas.openxmlformats.org/drawingml/2006/main">
              <a:ext uri="{FF2B5EF4-FFF2-40B4-BE49-F238E27FC236}">
                <a16:creationId xmlns:a16="http://schemas.microsoft.com/office/drawing/2014/main" id="{C357BD6F-2596-409D-9E83-6B1059B6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23825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CLEAR FIGURE</a:t>
            </a:r>
          </a:p>
        </p:txBody>
      </p:sp>
      <p:sp>
        <p:nvSpPr>
          <p:cNvPr id="32" name="chart-title">
            <a:extLst xmlns:a="http://schemas.openxmlformats.org/drawingml/2006/main">
              <a:ext uri="{FF2B5EF4-FFF2-40B4-BE49-F238E27FC236}">
                <a16:creationId xmlns:a16="http://schemas.microsoft.com/office/drawing/2014/main" id="{71C438E0-B41F-46AA-8340-CDF28EF3E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428750"/>
            <a:ext cx="628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Mean BMIPCT by perceived weight group</a:t>
            </a:r>
          </a:p>
        </p:txBody>
      </p:sp>
      <p:sp>
        <p:nvSpPr>
          <p:cNvPr id="33" name="chart-caption">
            <a:extLst xmlns:a="http://schemas.openxmlformats.org/drawingml/2006/main">
              <a:ext uri="{FF2B5EF4-FFF2-40B4-BE49-F238E27FC236}">
                <a16:creationId xmlns:a16="http://schemas.microsoft.com/office/drawing/2014/main" id="{6E6CDEC7-F899-4E07-A189-99A1C3FDB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7526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Bars show group means from the cleaned analysis dataset.</a:t>
            </a:r>
          </a:p>
        </p:txBody>
      </p:sp>
      <p:graphicFrame>
        <p:nvGraphicFramePr>
          <p:cNvPr id="77" name="Chart"/>
          <p:cNvGraphicFramePr/>
          <p:nvPr/>
        </p:nvGraphicFramePr>
        <p:xfrm>
          <a:off xmlns:a="http://schemas.openxmlformats.org/drawingml/2006/main" x="4400550" y="2019300"/>
          <a:ext xmlns:a="http://schemas.openxmlformats.org/drawingml/2006/main" cx="4972050" cy="29146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3c36fe83e6b4d25"/>
          </a:graphicData>
        </a:graphic>
      </p:graphicFrame>
      <p:sp>
        <p:nvSpPr>
          <p:cNvPr id="35" name="result-card">
            <a:extLst xmlns:a="http://schemas.openxmlformats.org/drawingml/2006/main">
              <a:ext uri="{FF2B5EF4-FFF2-40B4-BE49-F238E27FC236}">
                <a16:creationId xmlns:a16="http://schemas.microsoft.com/office/drawing/2014/main" id="{B9558BB2-9A6A-46E0-9486-2D31D2FC6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095500"/>
            <a:ext cx="1790700" cy="1809750"/>
          </a:xfrm>
          <a:prstGeom xmlns:a="http://schemas.openxmlformats.org/drawingml/2006/main" prst="roundRect">
            <a:avLst>
              <a:gd name="adj" fmla="val 9574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A7F3D0"/>
            </a:solidFill>
            <a:prstDash val="solid"/>
          </a:ln>
        </p:spPr>
      </p:sp>
      <p:sp>
        <p:nvSpPr>
          <p:cNvPr id="36" name="result-title">
            <a:extLst xmlns:a="http://schemas.openxmlformats.org/drawingml/2006/main">
              <a:ext uri="{FF2B5EF4-FFF2-40B4-BE49-F238E27FC236}">
                <a16:creationId xmlns:a16="http://schemas.microsoft.com/office/drawing/2014/main" id="{C1FD04EA-E22A-429C-8504-57A89EFC7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305050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65F4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Key Result</a:t>
            </a:r>
          </a:p>
        </p:txBody>
      </p:sp>
      <p:sp>
        <p:nvSpPr>
          <p:cNvPr id="37" name="result-main">
            <a:extLst xmlns:a="http://schemas.openxmlformats.org/drawingml/2006/main">
              <a:ext uri="{FF2B5EF4-FFF2-40B4-BE49-F238E27FC236}">
                <a16:creationId xmlns:a16="http://schemas.microsoft.com/office/drawing/2014/main" id="{98E367D9-86F9-47BD-9F64-A5F3C871A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647950"/>
            <a:ext cx="1485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064E3B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64E3B"/>
                </a:solidFill>
                <a:latin typeface="Aptos Display"/>
                <a:ea typeface="Aptos Display"/>
                <a:cs typeface="Aptos Display"/>
              </a:rPr>
              <a:t>Reject H0</a:t>
            </a:r>
          </a:p>
        </p:txBody>
      </p:sp>
      <p:sp>
        <p:nvSpPr>
          <p:cNvPr id="38" name="result-detail">
            <a:extLst xmlns:a="http://schemas.openxmlformats.org/drawingml/2006/main">
              <a:ext uri="{FF2B5EF4-FFF2-40B4-BE49-F238E27FC236}">
                <a16:creationId xmlns:a16="http://schemas.microsoft.com/office/drawing/2014/main" id="{6E1BDCC3-B62B-4C57-82A4-9CD9641BF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105150"/>
            <a:ext cx="14668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0F766E"/>
                </a:solidFill>
                <a:latin typeface="Aptos"/>
                <a:ea typeface="Aptos"/>
                <a:cs typeface="Aptos"/>
              </a:rPr>
              <a:t>ANOVA p &lt; 0.001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0F766E"/>
                </a:solidFill>
                <a:latin typeface="Aptos"/>
                <a:ea typeface="Aptos"/>
                <a:cs typeface="Aptos"/>
              </a:rPr>
              <a:t>10/10 Tukey pairs significant</a:t>
            </a:r>
          </a:p>
        </p:txBody>
      </p:sp>
      <p:sp>
        <p:nvSpPr>
          <p:cNvPr id="39" name="conclusion-band">
            <a:extLst xmlns:a="http://schemas.openxmlformats.org/drawingml/2006/main">
              <a:ext uri="{FF2B5EF4-FFF2-40B4-BE49-F238E27FC236}">
                <a16:creationId xmlns:a16="http://schemas.microsoft.com/office/drawing/2014/main" id="{F7335F6E-D148-49C5-9B93-B2BC6B1FE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772150"/>
            <a:ext cx="11315700" cy="647700"/>
          </a:xfrm>
          <a:prstGeom xmlns:a="http://schemas.openxmlformats.org/drawingml/2006/main" prst="roundRect">
            <a:avLst>
              <a:gd name="adj" fmla="val 26471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0">
            <a:solidFill>
              <a:srgbClr val="0F172A"/>
            </a:solidFill>
            <a:prstDash val="solid"/>
          </a:ln>
        </p:spPr>
      </p:sp>
      <p:sp>
        <p:nvSpPr>
          <p:cNvPr id="40" name="conclusion-title">
            <a:extLst xmlns:a="http://schemas.openxmlformats.org/drawingml/2006/main">
              <a:ext uri="{FF2B5EF4-FFF2-40B4-BE49-F238E27FC236}">
                <a16:creationId xmlns:a16="http://schemas.microsoft.com/office/drawing/2014/main" id="{E2E1049C-67F2-45A5-982F-18F9BEA65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934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A7F3D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A7F3D0"/>
                </a:solidFill>
                <a:latin typeface="Aptos"/>
                <a:ea typeface="Aptos"/>
                <a:cs typeface="Aptos"/>
              </a:rPr>
              <a:t>Conclusion</a:t>
            </a:r>
          </a:p>
        </p:txBody>
      </p:sp>
      <p:sp>
        <p:nvSpPr>
          <p:cNvPr id="41" name="conclusion-body">
            <a:extLst xmlns:a="http://schemas.openxmlformats.org/drawingml/2006/main">
              <a:ext uri="{FF2B5EF4-FFF2-40B4-BE49-F238E27FC236}">
                <a16:creationId xmlns:a16="http://schemas.microsoft.com/office/drawing/2014/main" id="{5E4386DF-40BD-4527-B700-6E567C745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5905500"/>
            <a:ext cx="800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Perceived weight category is associated with BMI percentile; association, not causation.</a:t>
            </a:r>
          </a:p>
        </p:txBody>
      </p:sp>
      <p:sp>
        <p:nvSpPr>
          <p:cNvPr id="42" name="source-note">
            <a:extLst xmlns:a="http://schemas.openxmlformats.org/drawingml/2006/main">
              <a:ext uri="{FF2B5EF4-FFF2-40B4-BE49-F238E27FC236}">
                <a16:creationId xmlns:a16="http://schemas.microsoft.com/office/drawing/2014/main" id="{4860B30F-90B4-4893-8941-7A4F57C19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617220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Source: YRBS_2007.csv; cleaned rows with valid PerceptionOfWeight and BMIPCT.</a:t>
            </a:r>
          </a:p>
        </p:txBody>
      </p:sp>
    </p:spTree>
    <p:extLst>
      <p:ext uri="{BB962C8B-B14F-4D97-AF65-F5344CB8AC3E}">
        <p14:creationId xmlns:p14="http://schemas.microsoft.com/office/powerpoint/2010/main" val="178963586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2026-06-19T03:54:33.8580000Z</dcterms:created>
  <dcterms:modified xsi:type="dcterms:W3CDTF">2026-06-19T03:54:33.8580000Z</dcterms:modified>
</coreProperties>
</file>